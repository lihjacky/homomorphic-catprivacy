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4"/>
  </p:notesMasterIdLst>
  <p:sldIdLst>
    <p:sldId id="262" r:id="rId3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5"/>
      <p:bold r:id="rId6"/>
      <p:italic r:id="rId7"/>
      <p:boldItalic r:id="rId8"/>
    </p:embeddedFont>
    <p:embeddedFont>
      <p:font typeface="Open Sans" panose="020B0606030504020204" pitchFamily="34" charset="0"/>
      <p:regular r:id="rId9"/>
      <p:bold r:id="rId10"/>
      <p:italic r:id="rId11"/>
      <p:boldItalic r:id="rId12"/>
    </p:embeddedFont>
    <p:embeddedFont>
      <p:font typeface="Open Sans SemiBold" panose="020B0706030804020204" pitchFamily="34" charset="0"/>
      <p:regular r:id="rId13"/>
      <p:bold r:id="rId14"/>
      <p:italic r:id="rId15"/>
      <p:boldItalic r:id="rId16"/>
    </p:embeddedFont>
    <p:embeddedFont>
      <p:font typeface="Roboto" panose="02000000000000000000" pitchFamily="2" charset="0"/>
      <p:regular r:id="rId17"/>
      <p:bold r:id="rId18"/>
      <p:italic r:id="rId19"/>
      <p:boldItalic r:id="rId20"/>
    </p:embeddedFont>
    <p:embeddedFont>
      <p:font typeface="Segoe UI Emoji" panose="020B0502040204020203" pitchFamily="34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4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gwCXSJ2vs6dUwpbbVMKaZpaPZM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>
      <p:cViewPr varScale="1">
        <p:scale>
          <a:sx n="104" d="100"/>
          <a:sy n="104" d="100"/>
        </p:scale>
        <p:origin x="490" y="58"/>
      </p:cViewPr>
      <p:guideLst>
        <p:guide orient="horz" pos="164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5" Type="http://schemas.openxmlformats.org/officeDocument/2006/relationships/font" Target="fonts/font11.fntdata"/><Relationship Id="rId16" Type="http://schemas.openxmlformats.org/officeDocument/2006/relationships/font" Target="fonts/font12.fntdata"/><Relationship Id="rId17" Type="http://schemas.openxmlformats.org/officeDocument/2006/relationships/font" Target="fonts/font13.fntdata"/><Relationship Id="rId18" Type="http://schemas.openxmlformats.org/officeDocument/2006/relationships/font" Target="fonts/font14.fntdata"/><Relationship Id="rId19" Type="http://schemas.openxmlformats.org/officeDocument/2006/relationships/font" Target="fonts/font15.fntdata"/><Relationship Id="rId20" Type="http://schemas.openxmlformats.org/officeDocument/2006/relationships/font" Target="fonts/font16.fntdata"/><Relationship Id="rId21" Type="http://schemas.openxmlformats.org/officeDocument/2006/relationships/font" Target="fonts/font17.fntdata"/><Relationship Id="rId32" Type="http://customschemas.google.com/relationships/presentationmetadata" Target="metadata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rgbClr val="002D3C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754464" y="2104950"/>
            <a:ext cx="7635072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Open Sans"/>
              <a:buNone/>
              <a:defRPr sz="42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" name="Google Shape;12;p14"/>
          <p:cNvSpPr/>
          <p:nvPr/>
        </p:nvSpPr>
        <p:spPr>
          <a:xfrm>
            <a:off x="-125" y="4147975"/>
            <a:ext cx="9144001" cy="9957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14" descr="Shape 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40438" y="4312261"/>
            <a:ext cx="1256176" cy="66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" type="tx">
  <p:cSld name="TITLE_AND_BODY">
    <p:bg>
      <p:bgPr>
        <a:solidFill>
          <a:srgbClr val="002D3C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7"/>
          <p:cNvSpPr/>
          <p:nvPr/>
        </p:nvSpPr>
        <p:spPr>
          <a:xfrm>
            <a:off x="0" y="1685999"/>
            <a:ext cx="9144000" cy="108601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7"/>
          <p:cNvSpPr txBox="1">
            <a:spLocks noGrp="1"/>
          </p:cNvSpPr>
          <p:nvPr>
            <p:ph type="title"/>
          </p:nvPr>
        </p:nvSpPr>
        <p:spPr>
          <a:xfrm>
            <a:off x="471900" y="218223"/>
            <a:ext cx="8222100" cy="1288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pen Sans"/>
              <a:buNone/>
              <a:defRPr sz="36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body" idx="1"/>
          </p:nvPr>
        </p:nvSpPr>
        <p:spPr>
          <a:xfrm>
            <a:off x="471900" y="1919074"/>
            <a:ext cx="8222100" cy="2710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9AD4C"/>
          </p15:clr>
        </p15:guide>
        <p15:guide id="2" pos="2880">
          <p15:clr>
            <a:srgbClr val="F9AD4C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type="secHead">
  <p:cSld name="SECTION_HEADER">
    <p:bg>
      <p:bgPr>
        <a:solidFill>
          <a:srgbClr val="002D3C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9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TWO_COLUMNS" type="twoColTx">
  <p:cSld name="TITLE_AND_TWO_COLUMNS">
    <p:bg>
      <p:bgPr>
        <a:solidFill>
          <a:srgbClr val="002D3C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0"/>
          <p:cNvSpPr/>
          <p:nvPr/>
        </p:nvSpPr>
        <p:spPr>
          <a:xfrm>
            <a:off x="0" y="1685999"/>
            <a:ext cx="9144000" cy="108601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0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pen Sans"/>
              <a:buNone/>
              <a:defRPr sz="32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body" idx="1"/>
          </p:nvPr>
        </p:nvSpPr>
        <p:spPr>
          <a:xfrm>
            <a:off x="471900" y="1919074"/>
            <a:ext cx="3999901" cy="2710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457200" marR="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body" idx="2"/>
          </p:nvPr>
        </p:nvSpPr>
        <p:spPr>
          <a:xfrm>
            <a:off x="4694249" y="1919074"/>
            <a:ext cx="3999901" cy="2710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_COLUMN_TEXT">
  <p:cSld name="ONE_COLUMN_TEXT">
    <p:bg>
      <p:bgPr>
        <a:solidFill>
          <a:srgbClr val="002D3C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/>
          <p:nvPr/>
        </p:nvSpPr>
        <p:spPr>
          <a:xfrm rot="10800000" flipH="1">
            <a:off x="3276600" y="24"/>
            <a:ext cx="5867400" cy="51435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1"/>
          <p:cNvSpPr/>
          <p:nvPr/>
        </p:nvSpPr>
        <p:spPr>
          <a:xfrm rot="-5400000">
            <a:off x="759149" y="2517450"/>
            <a:ext cx="5143501" cy="108601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1"/>
          <p:cNvSpPr txBox="1">
            <a:spLocks noGrp="1"/>
          </p:cNvSpPr>
          <p:nvPr>
            <p:ph type="title"/>
          </p:nvPr>
        </p:nvSpPr>
        <p:spPr>
          <a:xfrm>
            <a:off x="226077" y="357800"/>
            <a:ext cx="2808001" cy="953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21"/>
          <p:cNvSpPr txBox="1">
            <a:spLocks noGrp="1"/>
          </p:cNvSpPr>
          <p:nvPr>
            <p:ph type="body" idx="1"/>
          </p:nvPr>
        </p:nvSpPr>
        <p:spPr>
          <a:xfrm>
            <a:off x="226075" y="1465799"/>
            <a:ext cx="2808000" cy="3163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457200" marR="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_POINT">
  <p:cSld name="MAIN_POINT">
    <p:bg>
      <p:bgPr>
        <a:solidFill>
          <a:srgbClr val="002D3C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 txBox="1">
            <a:spLocks noGrp="1"/>
          </p:cNvSpPr>
          <p:nvPr>
            <p:ph type="title"/>
          </p:nvPr>
        </p:nvSpPr>
        <p:spPr>
          <a:xfrm>
            <a:off x="490250" y="488249"/>
            <a:ext cx="6227101" cy="4090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Open Sans"/>
              <a:buNone/>
              <a:defRPr sz="52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22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">
  <p:cSld name="SECTION_TITLE_AND_DESCRIPTION">
    <p:bg>
      <p:bgPr>
        <a:solidFill>
          <a:srgbClr val="002D3C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3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3"/>
          <p:cNvSpPr/>
          <p:nvPr/>
        </p:nvSpPr>
        <p:spPr>
          <a:xfrm rot="5400000">
            <a:off x="1946424" y="2517749"/>
            <a:ext cx="5142902" cy="108601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23"/>
          <p:cNvSpPr txBox="1">
            <a:spLocks noGrp="1"/>
          </p:cNvSpPr>
          <p:nvPr>
            <p:ph type="body" idx="1"/>
          </p:nvPr>
        </p:nvSpPr>
        <p:spPr>
          <a:xfrm>
            <a:off x="265500" y="2779466"/>
            <a:ext cx="4045200" cy="1235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100"/>
              <a:buFont typeface="Montserrat"/>
              <a:buNone/>
              <a:defRPr sz="21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100"/>
              <a:buFont typeface="Montserrat"/>
              <a:buNone/>
              <a:defRPr sz="21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100"/>
              <a:buFont typeface="Montserrat"/>
              <a:buNone/>
              <a:defRPr sz="21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100"/>
              <a:buFont typeface="Montserrat"/>
              <a:buNone/>
              <a:defRPr sz="21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100"/>
              <a:buFont typeface="Montserrat"/>
              <a:buNone/>
              <a:defRPr sz="21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body" idx="2"/>
          </p:nvPr>
        </p:nvSpPr>
        <p:spPr>
          <a:xfrm>
            <a:off x="4939500" y="724199"/>
            <a:ext cx="3837000" cy="3695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">
  <p:cSld name="CAPTION_ONLY">
    <p:bg>
      <p:bgPr>
        <a:solidFill>
          <a:srgbClr val="002D3C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4"/>
          <p:cNvSpPr/>
          <p:nvPr/>
        </p:nvSpPr>
        <p:spPr>
          <a:xfrm rot="10800000" flipH="1">
            <a:off x="0" y="0"/>
            <a:ext cx="9144000" cy="46959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4"/>
          <p:cNvSpPr/>
          <p:nvPr/>
        </p:nvSpPr>
        <p:spPr>
          <a:xfrm rot="10800000" flipH="1">
            <a:off x="0" y="4622724"/>
            <a:ext cx="9144000" cy="74101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4"/>
          <p:cNvSpPr txBox="1">
            <a:spLocks noGrp="1"/>
          </p:cNvSpPr>
          <p:nvPr>
            <p:ph type="body" idx="1"/>
          </p:nvPr>
        </p:nvSpPr>
        <p:spPr>
          <a:xfrm>
            <a:off x="57150" y="4696824"/>
            <a:ext cx="8382000" cy="446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sz="12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endParaRPr/>
          </a:p>
        </p:txBody>
      </p:sp>
      <p:sp>
        <p:nvSpPr>
          <p:cNvPr id="49" name="Google Shape;49;p24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_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>
            <a:spLocks noGrp="1"/>
          </p:cNvSpPr>
          <p:nvPr>
            <p:ph type="title"/>
          </p:nvPr>
        </p:nvSpPr>
        <p:spPr>
          <a:xfrm>
            <a:off x="475499" y="1258525"/>
            <a:ext cx="8222101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0"/>
              <a:buFont typeface="Arial"/>
              <a:buNone/>
              <a:defRPr sz="12000" b="0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body" idx="1"/>
          </p:nvPr>
        </p:nvSpPr>
        <p:spPr>
          <a:xfrm>
            <a:off x="475499" y="3304625"/>
            <a:ext cx="8222101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457200" marR="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c1733ce9ce_1_354"/>
          <p:cNvSpPr/>
          <p:nvPr/>
        </p:nvSpPr>
        <p:spPr>
          <a:xfrm rot="10800000" flipH="1">
            <a:off x="0" y="656300"/>
            <a:ext cx="9144000" cy="4478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2c1733ce9ce_1_354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g2c1733ce9ce_1_354"/>
          <p:cNvSpPr txBox="1">
            <a:spLocks noGrp="1"/>
          </p:cNvSpPr>
          <p:nvPr>
            <p:ph type="title"/>
          </p:nvPr>
        </p:nvSpPr>
        <p:spPr>
          <a:xfrm>
            <a:off x="401925" y="16350"/>
            <a:ext cx="8523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0" name="Google Shape;60;g2c1733ce9ce_1_354"/>
          <p:cNvSpPr txBox="1">
            <a:spLocks noGrp="1"/>
          </p:cNvSpPr>
          <p:nvPr>
            <p:ph type="sldNum" idx="12"/>
          </p:nvPr>
        </p:nvSpPr>
        <p:spPr>
          <a:xfrm>
            <a:off x="78789" y="468958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1" name="Google Shape;61;g2c1733ce9ce_1_3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2625" y="4520234"/>
            <a:ext cx="830437" cy="474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c1733ce9ce_1_444"/>
          <p:cNvSpPr/>
          <p:nvPr/>
        </p:nvSpPr>
        <p:spPr>
          <a:xfrm rot="10800000" flipH="1">
            <a:off x="0" y="656300"/>
            <a:ext cx="9144000" cy="4478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2c1733ce9ce_1_444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2c1733ce9ce_1_444"/>
          <p:cNvSpPr txBox="1">
            <a:spLocks noGrp="1"/>
          </p:cNvSpPr>
          <p:nvPr>
            <p:ph type="title"/>
          </p:nvPr>
        </p:nvSpPr>
        <p:spPr>
          <a:xfrm>
            <a:off x="401925" y="16350"/>
            <a:ext cx="8523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0" name="Google Shape;70;g2c1733ce9ce_1_444"/>
          <p:cNvSpPr txBox="1">
            <a:spLocks noGrp="1"/>
          </p:cNvSpPr>
          <p:nvPr>
            <p:ph type="sldNum" idx="12"/>
          </p:nvPr>
        </p:nvSpPr>
        <p:spPr>
          <a:xfrm>
            <a:off x="78789" y="468958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1" name="Google Shape;71;g2c1733ce9ce_1_4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2625" y="4520234"/>
            <a:ext cx="830437" cy="474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c1733ce9ce_1_450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Open Sans"/>
              <a:buNone/>
              <a:defRPr sz="3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  <a:defRPr sz="4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  <a:defRPr sz="4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  <a:defRPr sz="4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  <a:defRPr sz="4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  <a:defRPr sz="4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  <a:defRPr sz="4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  <a:defRPr sz="4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  <a:defRPr sz="4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4" name="Google Shape;74;g2c1733ce9ce_1_450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5" name="Google Shape;75;g2c1733ce9ce_1_45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g2c1733ce9ce_1_450"/>
          <p:cNvSpPr/>
          <p:nvPr/>
        </p:nvSpPr>
        <p:spPr>
          <a:xfrm>
            <a:off x="-125" y="4147975"/>
            <a:ext cx="9144000" cy="99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g2c1733ce9ce_1_4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55588" y="4312262"/>
            <a:ext cx="942131" cy="500343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2c1733ce9ce_1_450"/>
          <p:cNvSpPr txBox="1"/>
          <p:nvPr/>
        </p:nvSpPr>
        <p:spPr>
          <a:xfrm>
            <a:off x="381005" y="4507324"/>
            <a:ext cx="2750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Making the Internet work better</a:t>
            </a:r>
            <a:endParaRPr sz="1200" b="0" i="0" u="none" strike="noStrike" cap="non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c1733ce9ce_1_457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g2c1733ce9ce_1_457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g2c1733ce9ce_1_457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 SemiBold"/>
              <a:buNone/>
              <a:defRPr sz="3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3" name="Google Shape;83;g2c1733ce9ce_1_457"/>
          <p:cNvSpPr txBox="1">
            <a:spLocks noGrp="1"/>
          </p:cNvSpPr>
          <p:nvPr>
            <p:ph type="body" idx="1"/>
          </p:nvPr>
        </p:nvSpPr>
        <p:spPr>
          <a:xfrm>
            <a:off x="627500" y="1794600"/>
            <a:ext cx="80664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2D3C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2D3C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2D3C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2D3C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2D3C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2D3C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2D3C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2D3C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4" name="Google Shape;84;g2c1733ce9ce_1_457"/>
          <p:cNvSpPr txBox="1">
            <a:spLocks noGrp="1"/>
          </p:cNvSpPr>
          <p:nvPr>
            <p:ph type="sldNum" idx="12"/>
          </p:nvPr>
        </p:nvSpPr>
        <p:spPr>
          <a:xfrm>
            <a:off x="78789" y="468958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5" name="Google Shape;85;g2c1733ce9ce_1_4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4725" y="4520225"/>
            <a:ext cx="618862" cy="35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c1733ce9ce_1_464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Open Sans"/>
              <a:buNone/>
              <a:defRPr sz="44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8" name="Google Shape;88;g2c1733ce9ce_1_46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c1733ce9ce_1_467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2c1733ce9ce_1_467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2c1733ce9ce_1_467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"/>
              <a:buNone/>
              <a:defRPr sz="3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3" name="Google Shape;93;g2c1733ce9ce_1_467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4" name="Google Shape;94;g2c1733ce9ce_1_467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5" name="Google Shape;95;g2c1733ce9ce_1_467"/>
          <p:cNvSpPr txBox="1">
            <a:spLocks noGrp="1"/>
          </p:cNvSpPr>
          <p:nvPr>
            <p:ph type="sldNum" idx="12"/>
          </p:nvPr>
        </p:nvSpPr>
        <p:spPr>
          <a:xfrm>
            <a:off x="78789" y="468958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6" name="Google Shape;96;g2c1733ce9ce_1_4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4725" y="4520225"/>
            <a:ext cx="618862" cy="35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c1733ce9ce_1_475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2c1733ce9ce_1_475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2c1733ce9ce_1_475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01" name="Google Shape;101;g2c1733ce9ce_1_475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2" name="Google Shape;102;g2c1733ce9ce_1_47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c1733ce9ce_1_481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"/>
              <a:buNone/>
              <a:defRPr sz="5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"/>
              <a:buNone/>
              <a:defRPr sz="6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"/>
              <a:buNone/>
              <a:defRPr sz="6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"/>
              <a:buNone/>
              <a:defRPr sz="6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"/>
              <a:buNone/>
              <a:defRPr sz="6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"/>
              <a:buNone/>
              <a:defRPr sz="6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"/>
              <a:buNone/>
              <a:defRPr sz="6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"/>
              <a:buNone/>
              <a:defRPr sz="6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"/>
              <a:buNone/>
              <a:defRPr sz="6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05" name="Google Shape;105;g2c1733ce9ce_1_48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c1733ce9ce_1_484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2c1733ce9ce_1_484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2c1733ce9ce_1_48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0" name="Google Shape;110;g2c1733ce9ce_1_484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11" name="Google Shape;111;g2c1733ce9ce_1_484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12" name="Google Shape;112;g2c1733ce9ce_1_48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c1733ce9ce_1_491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2c1733ce9ce_1_491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2c1733ce9ce_1_491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endParaRPr/>
          </a:p>
        </p:txBody>
      </p:sp>
      <p:sp>
        <p:nvSpPr>
          <p:cNvPr id="117" name="Google Shape;117;g2c1733ce9ce_1_49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c1733ce9ce_1_496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Roboto"/>
              <a:buNone/>
              <a:defRPr sz="12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Roboto"/>
              <a:buNone/>
              <a:defRPr sz="12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Roboto"/>
              <a:buNone/>
              <a:defRPr sz="12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Roboto"/>
              <a:buNone/>
              <a:defRPr sz="12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Roboto"/>
              <a:buNone/>
              <a:defRPr sz="12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Roboto"/>
              <a:buNone/>
              <a:defRPr sz="12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Roboto"/>
              <a:buNone/>
              <a:defRPr sz="12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Roboto"/>
              <a:buNone/>
              <a:defRPr sz="12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g2c1733ce9ce_1_496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21" name="Google Shape;121;g2c1733ce9ce_1_49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063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rgbClr val="002D3C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c1733ce9ce_1_440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4" name="Google Shape;64;g2c1733ce9ce_1_440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5" name="Google Shape;65;g2c1733ce9ce_1_44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8f69ff7af0_0_0"/>
          <p:cNvSpPr txBox="1">
            <a:spLocks noGrp="1"/>
          </p:cNvSpPr>
          <p:nvPr>
            <p:ph type="title"/>
          </p:nvPr>
        </p:nvSpPr>
        <p:spPr>
          <a:xfrm>
            <a:off x="401925" y="16350"/>
            <a:ext cx="8523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 dirty="0"/>
              <a:t>Hackathon: </a:t>
            </a:r>
            <a:r>
              <a:rPr lang="en-US" b="1"/>
              <a:t>Cat Privacy</a:t>
            </a:r>
            <a:endParaRPr b="1" dirty="0"/>
          </a:p>
        </p:txBody>
      </p:sp>
      <p:sp>
        <p:nvSpPr>
          <p:cNvPr id="148" name="Google Shape;148;g28f69ff7af0_0_0"/>
          <p:cNvSpPr txBox="1"/>
          <p:nvPr/>
        </p:nvSpPr>
        <p:spPr>
          <a:xfrm>
            <a:off x="401925" y="1168250"/>
            <a:ext cx="8523000" cy="323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E69CEC9-7C4C-4D98-B960-8374EA1AF2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pic>
        <p:nvPicPr>
          <p:cNvPr id="149" name="Picture 148" descr="hack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32688"/>
            <a:ext cx="1912321" cy="3456432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150" name="Picture 149" descr="hack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8393" y="932688"/>
            <a:ext cx="2423837" cy="3456432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52" name="TextBox 151"/>
          <p:cNvSpPr txBox="1"/>
          <p:nvPr/>
        </p:nvSpPr>
        <p:spPr>
          <a:xfrm>
            <a:off x="5140831" y="987552"/>
            <a:ext cx="3591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262626"/>
                </a:solidFill>
                <a:latin typeface="Montserrat"/>
              </a:rPr>
              <a:t>•  Stack</a:t>
            </a:r>
            <a:r>
              <a:rPr sz="1100">
                <a:solidFill>
                  <a:srgbClr val="262626"/>
                </a:solidFill>
                <a:latin typeface="Montserrat"/>
              </a:rPr>
              <a:t> — OpenFHE / CKKS; CNN cat-vs-not-cat on an encrypted 32×32 RGB image; local crypto MCP server (stdio) + remote inference MCP server (HTTP, Docker-deployable) + chat web UI.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62626"/>
                </a:solidFill>
                <a:latin typeface="Montserrat"/>
              </a:rPr>
              <a:t>•  Homomorphic inference</a:t>
            </a:r>
            <a:r>
              <a:rPr sz="1100">
                <a:solidFill>
                  <a:srgbClr val="262626"/>
                </a:solidFill>
                <a:latin typeface="Montserrat"/>
              </a:rPr>
              <a:t>: 77.8 s server-side (9-thread CPU).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62626"/>
                </a:solidFill>
                <a:latin typeface="Montserrat"/>
              </a:rPr>
              <a:t>•  End-to-end</a:t>
            </a:r>
            <a:r>
              <a:rPr sz="1100">
                <a:solidFill>
                  <a:srgbClr val="262626"/>
                </a:solidFill>
                <a:latin typeface="Montserrat"/>
              </a:rPr>
              <a:t>: 90.1 s (preprocess, encrypt, upload, infer, decrypt).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62626"/>
                </a:solidFill>
                <a:latin typeface="Montserrat"/>
              </a:rPr>
              <a:t>•  Payloads</a:t>
            </a:r>
            <a:r>
              <a:rPr sz="1100">
                <a:solidFill>
                  <a:srgbClr val="262626"/>
                </a:solidFill>
                <a:latin typeface="Montserrat"/>
              </a:rPr>
              <a:t> — encrypted input ≈ 192 MB; encrypted output logit ≈ 1 MB.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62626"/>
                </a:solidFill>
                <a:latin typeface="Montserrat"/>
              </a:rPr>
              <a:t>•  Keys</a:t>
            </a:r>
            <a:r>
              <a:rPr sz="1100">
                <a:solidFill>
                  <a:srgbClr val="262626"/>
                </a:solidFill>
                <a:latin typeface="Montserrat"/>
              </a:rPr>
              <a:t> — evaluation keys ≈ 1.8 GB, provisioned once, cached via Key Reference.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62626"/>
                </a:solidFill>
                <a:latin typeface="Montserrat"/>
              </a:rPr>
              <a:t>•  This run</a:t>
            </a:r>
            <a:r>
              <a:rPr sz="1100">
                <a:solidFill>
                  <a:srgbClr val="262626"/>
                </a:solidFill>
                <a:latin typeface="Montserrat"/>
              </a:rPr>
              <a:t> — “cat”, probability 65.7%.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02920" y="4498848"/>
            <a:ext cx="6309360" cy="5486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600" b="1">
                <a:solidFill>
                  <a:srgbClr val="E8710A"/>
                </a:solidFill>
                <a:latin typeface="Montserrat"/>
              </a:rPr>
              <a:t>Try your own cat on the link: </a:t>
            </a:r>
            <a:r>
              <a:rPr sz="2200">
                <a:latin typeface="Segoe UI Emoji"/>
              </a:rPr>
              <a:t>🐱</a:t>
            </a:r>
          </a:p>
        </p:txBody>
      </p:sp>
      <p:pic>
        <p:nvPicPr>
          <p:cNvPr id="154" name="Picture 153" descr="draft_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4114800"/>
            <a:ext cx="896112" cy="896112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6583680" y="3858768"/>
            <a:ext cx="1554480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ctr"/>
            <a:r>
              <a:rPr sz="1000">
                <a:solidFill>
                  <a:srgbClr val="595959"/>
                </a:solidFill>
                <a:latin typeface="Montserrat"/>
              </a:rPr>
              <a:t>Scan → the draft</a:t>
            </a:r>
          </a:p>
        </p:txBody>
      </p:sp>
      <p:pic>
        <p:nvPicPr>
          <p:cNvPr id="156" name="Picture 155" descr="repo_q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0448" y="4114800"/>
            <a:ext cx="896112" cy="896112"/>
          </a:xfrm>
          <a:prstGeom prst="rect">
            <a:avLst/>
          </a:prstGeom>
        </p:spPr>
      </p:pic>
      <p:sp>
        <p:nvSpPr>
          <p:cNvPr id="157" name="TextBox 156"/>
          <p:cNvSpPr txBox="1"/>
          <p:nvPr/>
        </p:nvSpPr>
        <p:spPr>
          <a:xfrm>
            <a:off x="5550408" y="3858768"/>
            <a:ext cx="1325880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595959"/>
                </a:solidFill>
                <a:latin typeface="Montserrat"/>
              </a:rPr>
              <a:t>Scan → the repo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002D3C"/>
      </a:dk1>
      <a:lt1>
        <a:srgbClr val="4285F4"/>
      </a:lt1>
      <a:dk2>
        <a:srgbClr val="A7A7A7"/>
      </a:dk2>
      <a:lt2>
        <a:srgbClr val="53535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ETF Template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aterial">
  <a:themeElements>
    <a:clrScheme name="Material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123</Words>
  <Application>Microsoft Office PowerPoint</Application>
  <PresentationFormat>全屏显示(16:9)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Roboto</vt:lpstr>
      <vt:lpstr>Montserrat</vt:lpstr>
      <vt:lpstr>Segoe UI Emoji</vt:lpstr>
      <vt:lpstr>Open Sans SemiBold</vt:lpstr>
      <vt:lpstr>Open Sans</vt:lpstr>
      <vt:lpstr>Arial</vt:lpstr>
      <vt:lpstr>Material</vt:lpstr>
      <vt:lpstr>IETF Template</vt:lpstr>
      <vt:lpstr>Hackathon: Cat Privacy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 linked ietf draft title</dc:title>
  <dc:creator>Pengshuping (Peng Shuping)</dc:creator>
  <cp:lastModifiedBy>Tu Yaowei</cp:lastModifiedBy>
  <cp:revision>7</cp:revision>
  <dcterms:modified xsi:type="dcterms:W3CDTF">2026-07-18T14:18:54Z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readonly">
    <vt:lpwstr/>
  </property>
  <property fmtid="{D5CDD505-2E9C-101B-9397-08002B2CF9AE}" pid="3" name="_change">
    <vt:lpwstr/>
  </property>
  <property fmtid="{D5CDD505-2E9C-101B-9397-08002B2CF9AE}" pid="4" name="_full-control">
    <vt:lpwstr/>
  </property>
  <property fmtid="{D5CDD505-2E9C-101B-9397-08002B2CF9AE}" pid="5" name="sflag">
    <vt:lpwstr>1678083488</vt:lpwstr>
  </property>
  <property fmtid="{D5CDD505-2E9C-101B-9397-08002B2CF9AE}" pid="6" name="_2015_ms_pID_725343">
    <vt:lpwstr>(2)xVnKhFYPCbCOmvT5WUBRDvKZdR6Q0FPFkRSkZ7gMAaTFOTy6Z50Oxx2pNVMeFzkFCXfzL2Po
EBGKra7t1MQ7q6LWFiX2F3t/2RmtCkE0VLXP1L3UWLk48kXw5AUd5AkeUVfB0Gg/QOmYRNr9
IkY2ifLLJ9aulvJPIqwB9qOYtw2eUVkdW9haBMViPWE0U+4M1pxY8Mwz+N0oBJSd7b3T9X5D
rL/CL4JktDgeG81PN5</vt:lpwstr>
  </property>
  <property fmtid="{D5CDD505-2E9C-101B-9397-08002B2CF9AE}" pid="7" name="_2015_ms_pID_7253431">
    <vt:lpwstr>ulVfEX0dgydRZWl0OUitW0qnS+Qtc52wHL+eAUThlPGCl5FJqBOFq9
XMfTZd3MPkMVT3HvUpV2hTT8DT8hKNRsxbdKhLLtp2m0f9jXflRq9g9npNJ+h2dCbvqllpMx
0Z6t+XB5oLaGG329ecBucW9t/TZW2N6X3oZ5B+1yMK4WqGmUmhFm2tjhDLrHogrTaX2gnXUP
DAIG5pQGsyxGvCRJ</vt:lpwstr>
  </property>
</Properties>
</file>